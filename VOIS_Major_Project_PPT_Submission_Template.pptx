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8" d="100"/>
          <a:sy n="88" d="100"/>
        </p:scale>
        <p:origin x="398" y="6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=""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=""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=""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=""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=""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=""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=""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=""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=""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=""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=""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=""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=""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=""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=""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=""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=""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=""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=""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=""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=""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=""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=""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=""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=""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=""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484" y="3405548"/>
            <a:ext cx="7794709" cy="109272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Student </a:t>
            </a:r>
            <a:r>
              <a:rPr lang="en-US" dirty="0">
                <a:solidFill>
                  <a:schemeClr val="tx1"/>
                </a:solidFill>
              </a:rPr>
              <a:t>Name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en-US" dirty="0" err="1" smtClean="0">
                <a:solidFill>
                  <a:schemeClr val="tx1"/>
                </a:solidFill>
              </a:rPr>
              <a:t>Siya</a:t>
            </a:r>
            <a:r>
              <a:rPr lang="en-US" dirty="0" smtClean="0">
                <a:solidFill>
                  <a:schemeClr val="tx1"/>
                </a:solidFill>
              </a:rPr>
              <a:t> Rajesh </a:t>
            </a:r>
            <a:r>
              <a:rPr lang="en-US" dirty="0" err="1" smtClean="0">
                <a:solidFill>
                  <a:schemeClr val="tx1"/>
                </a:solidFill>
              </a:rPr>
              <a:t>Tambe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College Name – Dr. D. Y. </a:t>
            </a:r>
            <a:r>
              <a:rPr lang="en-US" dirty="0" err="1" smtClean="0">
                <a:solidFill>
                  <a:schemeClr val="tx1"/>
                </a:solidFill>
              </a:rPr>
              <a:t>Patil</a:t>
            </a:r>
            <a:r>
              <a:rPr lang="en-US" dirty="0" smtClean="0">
                <a:solidFill>
                  <a:schemeClr val="tx1"/>
                </a:solidFill>
              </a:rPr>
              <a:t> College of Engineering and Innovation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84" y="2740299"/>
            <a:ext cx="10451190" cy="743448"/>
          </a:xfrm>
        </p:spPr>
        <p:txBody>
          <a:bodyPr>
            <a:normAutofit fontScale="90000"/>
          </a:bodyPr>
          <a:lstStyle/>
          <a:p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Title </a:t>
            </a:r>
            <a:r>
              <a:rPr lang="en-GB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=""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95484" y="4498270"/>
            <a:ext cx="5391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</a:t>
            </a:r>
            <a:r>
              <a:rPr lang="en-US" b="1" dirty="0" smtClean="0"/>
              <a:t>: </a:t>
            </a:r>
            <a:r>
              <a:rPr lang="en-IN" b="1" dirty="0"/>
              <a:t> STU69dc7c237cf7d1776057379</a:t>
            </a:r>
            <a:r>
              <a:rPr lang="en-US" b="1" dirty="0" smtClean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4304" y="1345059"/>
            <a:ext cx="6476275" cy="5223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Agricultural activities are influenced by seasonal variations in environmental </a:t>
            </a:r>
            <a:r>
              <a:rPr lang="en-US" dirty="0" smtClean="0"/>
              <a:t>conditions, farming </a:t>
            </a:r>
            <a:r>
              <a:rPr lang="en-US" dirty="0"/>
              <a:t>practices, resource availability and market conditions. As a result, </a:t>
            </a:r>
            <a:r>
              <a:rPr lang="en-US" dirty="0" smtClean="0"/>
              <a:t>agricultural performance </a:t>
            </a:r>
            <a:r>
              <a:rPr lang="en-US" dirty="0"/>
              <a:t>may differ from one season to </a:t>
            </a:r>
            <a:r>
              <a:rPr lang="en-US" dirty="0" smtClean="0"/>
              <a:t>another. </a:t>
            </a:r>
          </a:p>
          <a:p>
            <a:pPr marL="0" indent="0">
              <a:buNone/>
            </a:pPr>
            <a:r>
              <a:rPr lang="en-US" dirty="0" smtClean="0"/>
              <a:t>However</a:t>
            </a:r>
            <a:r>
              <a:rPr lang="en-US" dirty="0"/>
              <a:t>, raw agricultural data does not clearly explain how agricultural performance </a:t>
            </a:r>
            <a:r>
              <a:rPr lang="en-US" dirty="0" smtClean="0"/>
              <a:t>changes across </a:t>
            </a:r>
            <a:r>
              <a:rPr lang="en-US" dirty="0"/>
              <a:t>seasons or what patterns can be observed in different seasonal </a:t>
            </a:r>
            <a:r>
              <a:rPr lang="en-US" dirty="0" smtClean="0"/>
              <a:t>conditions. 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problem is to analyze the given agricultural dataset and investigate seasonal </a:t>
            </a:r>
            <a:r>
              <a:rPr lang="en-US" dirty="0" smtClean="0"/>
              <a:t>differences in </a:t>
            </a:r>
            <a:r>
              <a:rPr lang="en-US" dirty="0"/>
              <a:t>agricultural performance by identifying meaningful patterns, trends, relationships </a:t>
            </a:r>
            <a:r>
              <a:rPr lang="en-US" dirty="0" smtClean="0"/>
              <a:t>and variations </a:t>
            </a:r>
            <a:r>
              <a:rPr lang="en-US" dirty="0"/>
              <a:t>within the available data.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304" y="458428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552664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7359" y="1515291"/>
            <a:ext cx="5994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project analyzes a dataset of 4,000 farm records across multiple 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Indian states, crops, and irrigation methods to understand how agricultural 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performance varies by season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Kharif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Rabi, Zaid).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analysis covers data cleaning, exploratory data analysis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univariate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bivariate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multivariate), correlation analysis, seasonal comparisons, and 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three independent student-designed investigations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concluding with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evidence-based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recommendations for improving seasonal agricultural outcomes.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545" y="1362846"/>
            <a:ext cx="6120427" cy="4760210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600" dirty="0" smtClean="0"/>
              <a:t>Farmers : to </a:t>
            </a:r>
            <a:r>
              <a:rPr lang="en-US" sz="3600" dirty="0"/>
              <a:t>make informed decisions on crop selection, irrigation </a:t>
            </a:r>
            <a:r>
              <a:rPr lang="en-US" sz="3600" dirty="0" smtClean="0"/>
              <a:t>method, and </a:t>
            </a:r>
            <a:r>
              <a:rPr lang="en-US" sz="3600" dirty="0"/>
              <a:t>seasonal planning</a:t>
            </a:r>
          </a:p>
          <a:p>
            <a:pPr algn="just">
              <a:lnSpc>
                <a:spcPct val="150000"/>
              </a:lnSpc>
            </a:pPr>
            <a:r>
              <a:rPr lang="en-US" sz="3600" dirty="0" smtClean="0"/>
              <a:t>Agricultural policymakers : to </a:t>
            </a:r>
            <a:r>
              <a:rPr lang="en-US" sz="3600" dirty="0"/>
              <a:t>design season-specific support programs</a:t>
            </a:r>
          </a:p>
          <a:p>
            <a:pPr algn="just">
              <a:lnSpc>
                <a:spcPct val="150000"/>
              </a:lnSpc>
            </a:pPr>
            <a:r>
              <a:rPr lang="en-US" sz="3600" dirty="0" smtClean="0"/>
              <a:t>Agribusiness &amp; </a:t>
            </a:r>
            <a:r>
              <a:rPr lang="en-US" sz="3600" dirty="0" err="1"/>
              <a:t>agri</a:t>
            </a:r>
            <a:r>
              <a:rPr lang="en-US" sz="3600" dirty="0"/>
              <a:t>-tech </a:t>
            </a:r>
            <a:r>
              <a:rPr lang="en-US" sz="3600" dirty="0" smtClean="0"/>
              <a:t>companies : to </a:t>
            </a:r>
            <a:r>
              <a:rPr lang="en-US" sz="3600" dirty="0"/>
              <a:t>identify high-potential regions </a:t>
            </a:r>
            <a:r>
              <a:rPr lang="en-US" sz="3600" dirty="0" smtClean="0"/>
              <a:t>and </a:t>
            </a:r>
            <a:r>
              <a:rPr lang="en-US" sz="3600" dirty="0"/>
              <a:t>crops for investment</a:t>
            </a:r>
          </a:p>
          <a:p>
            <a:pPr algn="just">
              <a:lnSpc>
                <a:spcPct val="150000"/>
              </a:lnSpc>
            </a:pPr>
            <a:r>
              <a:rPr lang="en-US" sz="3600" dirty="0" smtClean="0"/>
              <a:t>Researchers </a:t>
            </a:r>
            <a:r>
              <a:rPr lang="en-US" sz="3600" dirty="0"/>
              <a:t>&amp; </a:t>
            </a:r>
            <a:r>
              <a:rPr lang="en-US" sz="3600" dirty="0" smtClean="0"/>
              <a:t>students : as </a:t>
            </a:r>
            <a:r>
              <a:rPr lang="en-US" sz="3600" dirty="0"/>
              <a:t>a reference for seasonal agricultural data analysis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45" y="506457"/>
            <a:ext cx="10046070" cy="802641"/>
          </a:xfrm>
        </p:spPr>
        <p:txBody>
          <a:bodyPr>
            <a:normAutofit/>
          </a:bodyPr>
          <a:lstStyle/>
          <a:p>
            <a:r>
              <a:rPr lang="en-US" sz="4300" dirty="0"/>
              <a:t>WHO ARE THE END USERS?</a:t>
            </a:r>
            <a:endParaRPr lang="en-IN" sz="43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4960" y="1432560"/>
            <a:ext cx="7833360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 smtClean="0"/>
              <a:t>Python </a:t>
            </a:r>
            <a:r>
              <a:rPr lang="en-IN" dirty="0"/>
              <a:t>(Google </a:t>
            </a:r>
            <a:r>
              <a:rPr lang="en-IN" dirty="0" err="1"/>
              <a:t>Colab</a:t>
            </a:r>
            <a:r>
              <a:rPr lang="en-IN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Pandas : </a:t>
            </a:r>
            <a:r>
              <a:rPr lang="en-IN" dirty="0"/>
              <a:t>data cleaning, aggregation, </a:t>
            </a:r>
            <a:r>
              <a:rPr lang="en-IN" dirty="0" err="1"/>
              <a:t>groupby</a:t>
            </a:r>
            <a:r>
              <a:rPr lang="en-IN" dirty="0"/>
              <a:t> analysis</a:t>
            </a:r>
          </a:p>
          <a:p>
            <a:pPr lvl="1">
              <a:lnSpc>
                <a:spcPct val="150000"/>
              </a:lnSpc>
            </a:pPr>
            <a:r>
              <a:rPr lang="en-IN" dirty="0" err="1" smtClean="0"/>
              <a:t>Matplotlib</a:t>
            </a:r>
            <a:r>
              <a:rPr lang="en-IN" dirty="0" smtClean="0"/>
              <a:t> </a:t>
            </a:r>
            <a:r>
              <a:rPr lang="en-IN" dirty="0"/>
              <a:t>&amp; </a:t>
            </a:r>
            <a:r>
              <a:rPr lang="en-IN" dirty="0" err="1"/>
              <a:t>Seaborn</a:t>
            </a:r>
            <a:r>
              <a:rPr lang="en-IN" dirty="0"/>
              <a:t> </a:t>
            </a:r>
            <a:r>
              <a:rPr lang="en-IN" dirty="0" smtClean="0"/>
              <a:t>: </a:t>
            </a:r>
            <a:r>
              <a:rPr lang="en-IN" dirty="0"/>
              <a:t>data visualization (histograms, boxplots, </a:t>
            </a:r>
            <a:r>
              <a:rPr lang="en-IN" dirty="0" err="1"/>
              <a:t>heatmaps</a:t>
            </a:r>
            <a:r>
              <a:rPr lang="en-IN" dirty="0"/>
              <a:t>, </a:t>
            </a:r>
            <a:r>
              <a:rPr lang="en-IN" dirty="0" smtClean="0"/>
              <a:t>scatter </a:t>
            </a:r>
            <a:r>
              <a:rPr lang="en-IN" dirty="0"/>
              <a:t>plots, line charts)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Statistical </a:t>
            </a:r>
            <a:r>
              <a:rPr lang="en-IN" dirty="0"/>
              <a:t>method: IQR (Interquartile Range) for outlier detection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18" y="430567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46" y="370589"/>
            <a:ext cx="2781346" cy="823622"/>
          </a:xfrm>
        </p:spPr>
        <p:txBody>
          <a:bodyPr>
            <a:normAutofit/>
          </a:bodyPr>
          <a:lstStyle/>
          <a:p>
            <a:r>
              <a:rPr lang="en-GB" sz="4000" dirty="0"/>
              <a:t>RESULTS 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5400000">
            <a:off x="11491958" y="1631460"/>
            <a:ext cx="2147594" cy="4568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755" y="922475"/>
            <a:ext cx="7158445" cy="593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202094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08056" y="3257006"/>
            <a:ext cx="4275138" cy="3155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40" y="1091932"/>
            <a:ext cx="10993374" cy="542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40" y="315447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2227" y="2485430"/>
            <a:ext cx="1822825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15" y="1454701"/>
            <a:ext cx="5372513" cy="37321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474" y="1454701"/>
            <a:ext cx="4798572" cy="370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333977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03" y="1197210"/>
            <a:ext cx="7024954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366213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08125" y="2746165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04" y="1229929"/>
            <a:ext cx="8436071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3" y="444374"/>
            <a:ext cx="4735798" cy="83099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FUTURE SCOPE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451183" y="1275371"/>
            <a:ext cx="6846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 a predictive model to forecast optimal season and crop combination for maximum profitability 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Incorporate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real-time weather data for dynamic seasonal recommendations 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Expand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 with more balanced Zaid season data for reliable insights 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Investigate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root causes of the non-linear disease risk–profit relationship 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Develop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interactive dashboard for farmers and policymakers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36052"/>
            <a:ext cx="4735798" cy="83099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GITHUB LINK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675957" y="1367049"/>
            <a:ext cx="6499906" cy="2269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</a:t>
            </a:r>
            <a:r>
              <a:rPr lang="en-GB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repository </a:t>
            </a:r>
            <a:r>
              <a:rPr lang="en-GB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link : </a:t>
            </a:r>
            <a:r>
              <a:rPr lang="en-GB" sz="2000" u="sng" dirty="0">
                <a:solidFill>
                  <a:schemeClr val="accent1">
                    <a:lumMod val="50000"/>
                  </a:schemeClr>
                </a:solidFill>
              </a:rPr>
              <a:t>https://github.com/Siya-Tambe/Major-Project_Seasonal-Agriculture-Performance-Analysis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7" y="2680768"/>
            <a:ext cx="6657570" cy="285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606" y="390713"/>
            <a:ext cx="6557554" cy="88465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dirty="0"/>
              <a:t>VOIS Course completion certificate </a:t>
            </a:r>
            <a:r>
              <a:rPr lang="en-IN" sz="3200" dirty="0" smtClean="0"/>
              <a:t> 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dirty="0"/>
              <a:t>Course </a:t>
            </a:r>
            <a:r>
              <a:rPr lang="en-IN" sz="3200" dirty="0" smtClean="0"/>
              <a:t>name - </a:t>
            </a:r>
            <a:r>
              <a:rPr lang="en-IN" sz="3200" dirty="0"/>
              <a:t>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351" y="1493414"/>
            <a:ext cx="7020609" cy="49785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564" y="989053"/>
            <a:ext cx="3582651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</a:t>
            </a:r>
            <a:endParaRPr 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=""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7" name="Text Placeholder 28">
            <a:extLst>
              <a:ext uri="{FF2B5EF4-FFF2-40B4-BE49-F238E27FC236}">
                <a16:creationId xmlns=""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=""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=""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=""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=""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3727864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=""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79157" y="2039224"/>
            <a:ext cx="5437467" cy="2377267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 to VOIS for Tech and 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Edunet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Foundation for this valuable internship experience. This project helped me strengthen my data analytics skills through real-world application, and I'm grateful for the support and guidance provided along the way.</a:t>
            </a:r>
            <a:endParaRPr lang="en-IN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600</TotalTime>
  <Words>415</Words>
  <Application>Microsoft Office PowerPoint</Application>
  <PresentationFormat>Widescreen</PresentationFormat>
  <Paragraphs>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  Course name - Data Visualization 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ADMIN</cp:lastModifiedBy>
  <cp:revision>103</cp:revision>
  <dcterms:created xsi:type="dcterms:W3CDTF">2021-07-11T13:13:15Z</dcterms:created>
  <dcterms:modified xsi:type="dcterms:W3CDTF">2026-09-06T11:41:13Z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